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910de50ffe486b" /><Relationship Type="http://schemas.openxmlformats.org/officeDocument/2006/relationships/extended-properties" Target="/docProps/app.xml" Id="Rb631fb9b79cb47b9" /><Relationship Type="http://schemas.openxmlformats.org/officeDocument/2006/relationships/officeDocument" Target="/ppt/presentation.xml" Id="R697e266c146344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0165c016bc4cb0"/>
  </p:sldMasterIdLst>
  <p:notesMasterIdLst>
    <p:notesMasterId xmlns:r="http://schemas.openxmlformats.org/officeDocument/2006/relationships" r:id="R2ed3e59e856848e6"/>
  </p:notesMasterIdLst>
  <p:sldIdLst>
    <p:sldId xmlns:r="http://schemas.openxmlformats.org/officeDocument/2006/relationships" id="256" r:id="R92c89ea3b4844ca9"/>
    <p:sldId xmlns:r="http://schemas.openxmlformats.org/officeDocument/2006/relationships" id="257" r:id="R4ae45426b79b4f82"/>
    <p:sldId xmlns:r="http://schemas.openxmlformats.org/officeDocument/2006/relationships" id="258" r:id="R4d91989696814040"/>
    <p:sldId xmlns:r="http://schemas.openxmlformats.org/officeDocument/2006/relationships" id="259" r:id="Ra725a463ddff4f4e"/>
    <p:sldId xmlns:r="http://schemas.openxmlformats.org/officeDocument/2006/relationships" id="260" r:id="R4e385372c52b4bc3"/>
    <p:sldId xmlns:r="http://schemas.openxmlformats.org/officeDocument/2006/relationships" id="261" r:id="Rc0ef8e36174b43ff"/>
    <p:sldId xmlns:r="http://schemas.openxmlformats.org/officeDocument/2006/relationships" id="262" r:id="R5d86c72ffd204f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4a841b0cdf4e68" /><Relationship Type="http://schemas.openxmlformats.org/officeDocument/2006/relationships/slideMaster" Target="/ppt/slideMasters/slideMaster1.xml" Id="Rd60165c016bc4cb0" /><Relationship Type="http://schemas.openxmlformats.org/officeDocument/2006/relationships/notesMaster" Target="/ppt/notesMasters/notesMaster1.xml" Id="R2ed3e59e856848e6" /><Relationship Type="http://schemas.openxmlformats.org/officeDocument/2006/relationships/presProps" Target="/ppt/presProps.xml" Id="R83d110467d774f71" /><Relationship Type="http://schemas.openxmlformats.org/officeDocument/2006/relationships/tableStyles" Target="/ppt/tableStyles.xml" Id="Rd26c889991b447e8" /><Relationship Type="http://schemas.openxmlformats.org/officeDocument/2006/relationships/slide" Target="/ppt/slides/slide1.xml" Id="R92c89ea3b4844ca9" /><Relationship Type="http://schemas.openxmlformats.org/officeDocument/2006/relationships/slide" Target="/ppt/slides/slide2.xml" Id="R4ae45426b79b4f82" /><Relationship Type="http://schemas.openxmlformats.org/officeDocument/2006/relationships/slide" Target="/ppt/slides/slide3.xml" Id="R4d91989696814040" /><Relationship Type="http://schemas.openxmlformats.org/officeDocument/2006/relationships/slide" Target="/ppt/slides/slide4.xml" Id="Ra725a463ddff4f4e" /><Relationship Type="http://schemas.openxmlformats.org/officeDocument/2006/relationships/slide" Target="/ppt/slides/slide5.xml" Id="R4e385372c52b4bc3" /><Relationship Type="http://schemas.openxmlformats.org/officeDocument/2006/relationships/slide" Target="/ppt/slides/slide6.xml" Id="Rc0ef8e36174b43ff" /><Relationship Type="http://schemas.openxmlformats.org/officeDocument/2006/relationships/slide" Target="/ppt/slides/slide7.xml" Id="R5d86c72ffd204f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99597d524c4f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7c6616c5744759" /><Relationship Type="http://schemas.openxmlformats.org/officeDocument/2006/relationships/notesMaster" Target="/ppt/notesMasters/notesMaster1.xml" Id="R9d6ed88431da43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32ce21169940ad" /><Relationship Type="http://schemas.openxmlformats.org/officeDocument/2006/relationships/notesMaster" Target="/ppt/notesMasters/notesMaster1.xml" Id="Rf3f12d39871548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e18c82efce4da4" /><Relationship Type="http://schemas.openxmlformats.org/officeDocument/2006/relationships/notesMaster" Target="/ppt/notesMasters/notesMaster1.xml" Id="Ra642c83a9b414a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d4b6e818674726" /><Relationship Type="http://schemas.openxmlformats.org/officeDocument/2006/relationships/notesMaster" Target="/ppt/notesMasters/notesMaster1.xml" Id="R29c9116c15c340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a903f32f084694" /><Relationship Type="http://schemas.openxmlformats.org/officeDocument/2006/relationships/notesMaster" Target="/ppt/notesMasters/notesMaster1.xml" Id="Rb6e29bf424e943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49d5286f5448a2" /><Relationship Type="http://schemas.openxmlformats.org/officeDocument/2006/relationships/notesMaster" Target="/ppt/notesMasters/notesMaster1.xml" Id="R4cf94cb986c14f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930dea16b3483c" /><Relationship Type="http://schemas.openxmlformats.org/officeDocument/2006/relationships/notesMaster" Target="/ppt/notesMasters/notesMaster1.xml" Id="R8952f0ad94e241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Проблема сформулирована как пользовательский сценарий, без заявления о проведённом исследовании или измеренном эффекте. Moodle iCalendar даёт сроки, но не трудоёмкость. Архитектура и исторический облачный статус: README.md, setup/RECOVERY-WEB-HANDOFF.md, setup/RECOVERY-WEB-VALIDATION.md, setup/RECOVERY-ROLLOUT-2026-10-20.md из main 4a0858a00b3f1c1c2bf382981b0400f212f06fb8. Облачный checkpoint относится к 20.10.2026. Свежие локальные результаты ветки codex/pitch-ui-demo относятся к 21.10.2026 и описаны в LOCAL-VALIDATION.md. setup/PITCH-CLOUD-HANDOFF.md отсутствовал при подготовке. Персональные данные и private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Фактический статус опубликованного приложения взят из README и checkpoint 20.10.2026. Текущий UI в main использует название Google AI, а презентация сохраняет запрошенное название CampusPulse AI. Ответ обычного чата сам по себе не записывает события Calendar. Архитектура и исторический облачный статус: README.md, setup/RECOVERY-WEB-HANDOFF.md, setup/RECOVERY-WEB-VALIDATION.md, setup/RECOVERY-ROLLOUT-2026-10-20.md из main 4a0858a00b3f1c1c2bf382981b0400f212f06fb8. Облачный checkpoint относится к 20.10.2026. Свежие локальные результаты ветки codex/pitch-ui-demo относятся к 21.10.2026 и описаны в LOCAL-VALIDATION.md. setup/PITCH-CLOUD-HANDOFF.md отсутствовал при подготовке. Персональные данные и private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implemented recovery чтение источников предшествует solve_repair. apply_plan требует отдельного согласия на сохранённую версию и хеш. verify_plan перечитывает результат. Этот процесс показан как реализованный контракт, а не пройденная персональная облачная приёмка. Источник: README, Recovery website integration handoff. Архитектура и исторический облачный статус: README.md, setup/RECOVERY-WEB-HANDOFF.md, setup/RECOVERY-WEB-VALIDATION.md, setup/RECOVERY-ROLLOUT-2026-10-20.md из main 4a0858a00b3f1c1c2bf382981b0400f212f06fb8. Облачный checkpoint относится к 20.10.2026. Свежие локальные результаты ветки codex/pitch-ui-demo относятся к 21.10.2026 и описаны в LOCAL-VALIDATION.md. setup/PITCH-CLOUD-HANDOFF.md отсутствовал при подготовке. Персональные данные и private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Native editable shapes and attached connectors. Схема упрощена: Cloud Run также обращается к Firestore напрямую, MCP читает/пишет состояние в том же Firestore. Gemini API находится в обычном chat path. Recovery runtime использует Gemini через Vertex AI и приватный MCP. Пунктир обозначает отключённую опциональную композицию сайта. README, architecture section, and rollout checkpoint 20.10.2026. Архитектура и исторический облачный статус: README.md, setup/RECOVERY-WEB-HANDOFF.md, setup/RECOVERY-WEB-VALIDATION.md, setup/RECOVERY-ROLLOUT-2026-10-20.md из main 4a0858a00b3f1c1c2bf382981b0400f212f06fb8. Облачный checkpoint относится к 20.10.2026. Свежие локальные результаты ветки codex/pitch-ui-demo относятся к 21.10.2026 и описаны в LOCAL-VALIDATION.md. setup/PITCH-CLOUD-HANDOFF.md отсутствовал при подготовке. Персональные данные и private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Инструменты и их mapping следуют README: solve_repair предоставляется как Function Calling, остальные перечисленные инструменты через MCP. MCP и Function Calling дополняют друг друга. Без отдельного backend-approved consent вызов apply_plan не разрешён. Архитектура и исторический облачный статус: README.md, setup/RECOVERY-WEB-HANDOFF.md, setup/RECOVERY-WEB-VALIDATION.md, setup/RECOVERY-ROLLOUT-2026-10-20.md из main 4a0858a00b3f1c1c2bf382981b0400f212f06fb8. Облачный checkpoint относится к 20.10.2026. Свежие локальные результаты ветки codex/pitch-ui-demo относятся к 21.10.2026 и описаны в LOCAL-VALIDATION.md. setup/PITCH-CLOUD-HANDOFF.md отсутствовал при подготовке. Персональные данные и private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Cloud receipts исторические, 20.10.2026. В тот checkpoint реальный Engine async_query достиг service identity rejection boundary при синтетическом/неразрешённом вводе. Это подтверждает инфраструктурный путь и границы доступа, но не персональную successful tool execution. Per-user code ещё требовал обновления Engine/MCP, website recovery отключён. Credentials, account IDs, resource IDs and URLs исключены. Архитектура и исторический облачный статус: README.md, setup/RECOVERY-WEB-HANDOFF.md, setup/RECOVERY-WEB-VALIDATION.md, setup/RECOVERY-ROLLOUT-2026-10-20.md из main 4a0858a00b3f1c1c2bf382981b0400f212f06fb8. Облачный checkpoint относится к 20.10.2026. Свежие локальные результаты ветки codex/pitch-ui-demo относятся к 21.10.2026 и описаны в LOCAL-VALIDATION.md. setup/PITCH-CLOUD-HANDOFF.md отсутствовал при подготовке. Персональные данные и private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LOCAL-VALIDATION.md, fresh local verification 21.10.2026 in .venv-pitch. Full pytest: 2256 passed, 26 skipped, 35 warnings, 248.26 seconds. Missing environments: 12 Firestore Emulator tests and 14 PowerShell tests skipped. Separate recovery offline evaluation: 347 passed, 95 warnings. Voice literal-loopback: 53 passed. Wheel/sdist, pip check and MCP composition passed. Full local browser chain: effort90 and working window save/reload, proposal, exact consent, separate apply, verified, reload. Synthetic counters: 2 Calendar writes, apply_plan1, verify_plan1, 8 Calendar reads. Desktop/narrow layouts and console checked. Do not merge these counts or use them as a model quality measure. User acceptance with two real users and personal cloud test Calendars is still pending. Архитектура и исторический облачный статус: README.md, setup/RECOVERY-WEB-HANDOFF.md, setup/RECOVERY-WEB-VALIDATION.md, setup/RECOVERY-ROLLOUT-2026-10-20.md из main 4a0858a00b3f1c1c2bf382981b0400f212f06fb8. Облачный checkpoint относится к 20.10.2026. Свежие локальные результаты ветки codex/pitch-ui-demo относятся к 21.10.2026 и описаны в LOCAL-VALIDATION.md. setup/PITCH-CLOUD-HANDOFF.md отсутствовал при подготовке. Персональные данные и private resource identifiers исключены.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d529413754439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af168cd3d04fa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e182feec4744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dde4b1dcfb46e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faa90ad6c947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df7ef663344f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9BF8E4-F898-4EC7-B286-3A203E92D3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06D28D9-AD95-46DA-A3EC-B457F515E3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9EC22A7-D4F5-4808-AFDD-BC9BF5720B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66F1C5-EDA0-47BE-B08B-075289901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CD99281-5BF4-434C-BB5B-ABC60182BC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2F646DB-0571-4542-B2A7-1EB2943F06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C73781E-94F6-4BF1-B960-F34561725E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7C8FA23-4821-48F2-B1D4-00A375A8CB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6F057E8-0A0A-4632-A14B-51FB5E4740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21BFAAF-907A-40E3-90BF-67A4D4B12B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5f7657123a42d8" /><Relationship Type="http://schemas.openxmlformats.org/officeDocument/2006/relationships/slideLayout" Target="/ppt/slideLayouts/slideLayout1.xml" Id="R628e45dee50249e5" /><Relationship Type="http://schemas.openxmlformats.org/officeDocument/2006/relationships/slideLayout" Target="/ppt/slideLayouts/slideLayout2.xml" Id="R72a7e62f329e490b" /><Relationship Type="http://schemas.openxmlformats.org/officeDocument/2006/relationships/slideLayout" Target="/ppt/slideLayouts/slideLayout3.xml" Id="Rfcbd05fa42454670" /><Relationship Type="http://schemas.openxmlformats.org/officeDocument/2006/relationships/slideLayout" Target="/ppt/slideLayouts/slideLayout4.xml" Id="R4eb4e52a34c14c87" /><Relationship Type="http://schemas.openxmlformats.org/officeDocument/2006/relationships/slideLayout" Target="/ppt/slideLayouts/slideLayout5.xml" Id="R78855232f77b4704" /><Relationship Type="http://schemas.openxmlformats.org/officeDocument/2006/relationships/slideLayout" Target="/ppt/slideLayouts/slideLayout6.xml" Id="R0981ab0b77904a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8e45dee50249e5"/>
    <p:sldLayoutId xmlns:r="http://schemas.openxmlformats.org/officeDocument/2006/relationships" id="2147483650" r:id="R72a7e62f329e490b"/>
    <p:sldLayoutId xmlns:r="http://schemas.openxmlformats.org/officeDocument/2006/relationships" id="2147483651" r:id="Rfcbd05fa42454670"/>
    <p:sldLayoutId xmlns:r="http://schemas.openxmlformats.org/officeDocument/2006/relationships" id="2147483652" r:id="R4eb4e52a34c14c87"/>
    <p:sldLayoutId xmlns:r="http://schemas.openxmlformats.org/officeDocument/2006/relationships" id="2147483653" r:id="R78855232f77b4704"/>
    <p:sldLayoutId xmlns:r="http://schemas.openxmlformats.org/officeDocument/2006/relationships" id="2147483654" r:id="R0981ab0b77904a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513dc34fe64284" /><Relationship Type="http://schemas.openxmlformats.org/officeDocument/2006/relationships/notesSlide" Target="/ppt/notesSlides/notesSlide1.xml" Id="R4a90598197ea4f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97a8fe32084119" /><Relationship Type="http://schemas.openxmlformats.org/officeDocument/2006/relationships/notesSlide" Target="/ppt/notesSlides/notesSlide2.xml" Id="Rabd19e4b44f448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e27379a0ab42b2" /><Relationship Type="http://schemas.openxmlformats.org/officeDocument/2006/relationships/notesSlide" Target="/ppt/notesSlides/notesSlide3.xml" Id="R447ff1c0819a48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a31c9c6a6c447e" /><Relationship Type="http://schemas.openxmlformats.org/officeDocument/2006/relationships/notesSlide" Target="/ppt/notesSlides/notesSlide4.xml" Id="R9eafaa56b6064c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7e31a68cb3445f" /><Relationship Type="http://schemas.openxmlformats.org/officeDocument/2006/relationships/notesSlide" Target="/ppt/notesSlides/notesSlide5.xml" Id="Rfcdc71315de844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b33b82d6fe46b6" /><Relationship Type="http://schemas.openxmlformats.org/officeDocument/2006/relationships/notesSlide" Target="/ppt/notesSlides/notesSlide6.xml" Id="R8b109dcd973f4a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1358d2fdfe458e" /><Relationship Type="http://schemas.openxmlformats.org/officeDocument/2006/relationships/notesSlide" Target="/ppt/notesSlides/notesSlide7.xml" Id="R4e85120da5c34e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3B0125-6B71-4256-B879-EF474ABE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121E9-960D-4D56-B529-5D5198A1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80619-776F-403A-B69C-86691E90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Дедлайны Moodle и время студента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F7F55-1614-4F42-B327-12D1DCC8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Сценарий: несколько работ на одной неделе, пары и другие обязательства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B8ED5-DE44-412E-9A3E-D28ED75E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54FEF-A617-4974-B4B9-ED2A5F6A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D8988-9369-4D89-B2DA-0EE6F111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6381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«С чего начать</a:t>
            </a:r>
          </a:p>
          <a:p xmlns:a="http://schemas.openxmlformats.org/drawingml/2006/main">
            <a:pPr algn="l">
              <a:def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1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и когда заниматься?»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1F5C1-F26B-44E8-BAEA-D0DCCBE4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5750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Сроки уже есть в Moodle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C467F-32AE-4F0C-9966-5EA07E64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24250"/>
            <a:ext cx="381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Для плана ещё нужны</a:t>
            </a:r>
          </a:p>
          <a:p xmlns:a="http://schemas.openxmlformats.org/drawingml/2006/main">
            <a: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трудоёмкость заданий</a:t>
            </a:r>
          </a:p>
          <a:p xmlns:a="http://schemas.openxmlformats.org/drawingml/2006/main">
            <a:pPr algn="l">
              <a:def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и свободные интервалы.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D6B06D-6C60-4E59-9741-A7F92DB7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Задача проекта: помочь собрать выполнимый учебный план.</a:t>
            </a:r>
          </a:p>
        </p:txBody>
      </p:sp>
    </p:spTree>
    <p:extLst>
      <p:ext uri="{BB962C8B-B14F-4D97-AF65-F5344CB8AC3E}">
        <p14:creationId xmlns:p14="http://schemas.microsoft.com/office/powerpoint/2010/main" val="2475042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7FC19D-4411-4982-BC78-2B6395F8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78E55-AE4D-4242-8AD5-5EB635BE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4E941-DDBE-4E69-817D-D396B3CA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Что делает CampusPulse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E589D-0995-4ADC-A25B-9010A789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Персональные сроки, сохранённое расписание и диалог в одном приложении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7AE57-A5BA-4825-889B-B849DD84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5C83E1-5637-49D6-A6DC-B7A8125F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04CD6F-3CD2-47BE-ADD4-E764CD69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Опубликованное приложение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11C275-5313-4D61-BE98-E48629AB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143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Google-вход и Moodle iCalendar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Диалог с Gemini по дедлайнам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Ручное расписание и Firestore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49A4F-AE56-47A4-BAF7-E37641D3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4914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Recovery-процесс в коде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B9FBB-59C8-4F16-9770-B5A9773F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33775"/>
            <a:ext cx="49149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Предложение на 72 часа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Согласие на точный план</a:t>
            </a:r>
          </a:p>
          <a:p xmlns:a="http://schemas.openxmlformats.org/drawingml/2006/main">
            <a:pPr algn="l">
              <a:def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Применение и независимый verify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32F080-A16C-4E5C-8D60-9490F1B9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По checkpoint 20.10 персональный recovery на сайте выключен.</a:t>
            </a:r>
          </a:p>
        </p:txBody>
      </p:sp>
    </p:spTree>
    <p:extLst>
      <p:ext uri="{BB962C8B-B14F-4D97-AF65-F5344CB8AC3E}">
        <p14:creationId xmlns:p14="http://schemas.microsoft.com/office/powerpoint/2010/main" val="1363779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BA6087-A97E-469F-881C-5C35F673B350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3345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0730FA-B4C8-431A-A68C-734543ABE1E1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0866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B396C2-6E40-4BB7-8145-8D5331F994D9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8387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C4787-1860-4066-8766-E062757548E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90800" y="38338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140F4D-7E1B-4740-A29B-0CC07876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D7D66A-CA23-4F54-8A6E-9CDEAE6C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B8C0AD-E178-4AC6-939A-196ECAB4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Основной сценарий: план на 72 часа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045BB-63BB-4FD7-82AD-965DF4AA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Студент задаёт свободное время и оставшуюся трудоёмкость заданий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961D1-F241-429C-BAAD-F412D4A0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A1A5D-0EA3-4DDC-BA94-33E896A7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C3334-B124-4DB7-A8E5-AA7EDF98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Чтение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источников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FC88F-048E-4D5A-B3B9-EB48AA5B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Расчёт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предложения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2E228-D79D-4F1D-B0CD-3F18CC3F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7F8C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Согласие</a:t>
            </a:r>
          </a:p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на план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EFB7EB-81BB-4B4E-B127-4D8F28F6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Запись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в Calendar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ACF78-590A-431E-B544-57B102BE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95625"/>
            <a:ext cx="1981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Независимый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223E3F-C508-44E2-AED6-2ABAA695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Версия и хеш связывают согласие с конкретным предложением.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1F540-F3E9-4012-B707-6BEEA5C8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Полный персональный сценарий в облаке пока не подтверждён.</a:t>
            </a:r>
          </a:p>
        </p:txBody>
      </p:sp>
    </p:spTree>
    <p:extLst>
      <p:ext uri="{BB962C8B-B14F-4D97-AF65-F5344CB8AC3E}">
        <p14:creationId xmlns:p14="http://schemas.microsoft.com/office/powerpoint/2010/main" val="1990382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F0427E-5BF5-4E70-BF62-F899F4C31A17}"/>
              </a:ext>
            </a:extLst>
          </p:cNvPr>
          <p:cNvCxnSpPr>
            <a:stCxn xmlns:a="http://schemas.openxmlformats.org/drawingml/2006/main" id="12" idx="0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7696200" y="3124200"/>
            <a:ext cx="2667000" cy="1066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1908">
            <a:solidFill>
              <a:srgbClr val="132238"/>
            </a:solidFill>
            <a:prstDash val="solid"/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EA3E70-1CC1-4BD2-B5A1-7812DF6B9BB4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43950" y="4667250"/>
            <a:ext cx="9334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F2DAC5-7144-443E-8F94-315FF45165C0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715000" y="4667250"/>
            <a:ext cx="9334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063841-DD98-4A11-9813-127A75F1A98C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4191000" y="3124200"/>
            <a:ext cx="238125" cy="1066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1908">
            <a:solidFill>
              <a:srgbClr val="4056BD"/>
            </a:solidFill>
            <a:prstDash val="dash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816907-58C5-46EC-9172-D93C472D7191}"/>
              </a:ext>
            </a:extLst>
          </p:cNvPr>
          <p:cNvCxnSpPr>
            <a:stCxn xmlns:a="http://schemas.openxmlformats.org/drawingml/2006/main" id="10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1466850" y="3124200"/>
            <a:ext cx="2724150" cy="1066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1908">
            <a:solidFill>
              <a:srgbClr val="132238"/>
            </a:solidFill>
            <a:prstDash val="solid"/>
            <a:tailEnd type="triangle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0A328C-1F2C-41EE-99A8-2C49B884DF33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238750" y="2714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95350-431E-4887-84D6-05B5A7F6E750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324100" y="27146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4056BD"/>
            </a:solidFill>
            <a:prstDash val="solid"/>
            <a:tailEnd type="triangle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F46FE8-D28A-43A0-8BFF-B99DFDA3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ED299-E2F5-46A1-B6B9-18E2D078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6EBD8-CF5C-4EF4-B633-8EC8CE67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Архитектура приложения и recovery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5FA53-F4EB-484B-8D80-578AB5A8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674FE-4153-4EF9-A0C5-93D20E09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8CE6A-64F1-4D57-88E9-642CC8D7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71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Веб-</a:t>
            </a:r>
          </a:p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интерфейс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F1872A-0960-47B3-A6CC-410DC89E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05050"/>
            <a:ext cx="209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Cloud Run</a:t>
            </a:r>
          </a:p>
          <a:p xmlns:a="http://schemas.openxmlformats.org/drawingml/2006/main">
            <a:pPr algn="ctr">
              <a:def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FastAPI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F937F-6632-4FF1-A324-414D74B4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05050"/>
            <a:ext cx="209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7F8C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Google ADK</a:t>
            </a:r>
          </a:p>
          <a:p xmlns:a="http://schemas.openxmlformats.org/drawingml/2006/main">
            <a:pPr algn="ctr">
              <a:def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Gemini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DAE20-C40B-442A-9365-32374C6F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05050"/>
            <a:ext cx="24384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Firestore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D2A93-6D7D-422D-A7C5-2B338663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71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2238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Moodle</a:t>
            </a:r>
          </a:p>
          <a:p xmlns:a="http://schemas.openxmlformats.org/drawingml/2006/main">
            <a:pPr algn="ctr">
              <a:def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iCalendar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63CE0D-960A-4131-A3F2-F1119E28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91000"/>
            <a:ext cx="2571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Agent Engine</a:t>
            </a:r>
          </a:p>
          <a:p xmlns:a="http://schemas.openxmlformats.org/drawingml/2006/main">
            <a:pPr algn="ctr">
              <a:def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Gemini через Vertex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DC00C0-A14B-4DC4-B382-37C73BB4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209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Приватный MCP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37949E-6C20-45B5-898E-7A3F966A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91000"/>
            <a:ext cx="1905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056BD"/>
            </a:solidFill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Google</a:t>
            </a:r>
          </a:p>
          <a:p xmlns:a="http://schemas.openxmlformats.org/drawingml/2006/main">
            <a:pPr algn="ctr">
              <a:def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Calendar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391E0B-F94C-41BB-B28E-FDAB560A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66925"/>
            <a:ext cx="0" cy="238125"/>
          </a:xfrm>
          <a:prstGeom xmlns:a="http://schemas.openxmlformats.org/drawingml/2006/main" prst="line">
            <a:avLst/>
          </a:prstGeom>
          <a:ln xmlns:a="http://schemas.openxmlformats.org/drawingml/2006/main" w="21908">
            <a:solidFill>
              <a:srgbClr val="13223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DECEE5-E822-4764-ABAD-59A54C92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66925"/>
            <a:ext cx="6172200" cy="0"/>
          </a:xfrm>
          <a:prstGeom xmlns:a="http://schemas.openxmlformats.org/drawingml/2006/main" prst="line">
            <a:avLst/>
          </a:prstGeom>
          <a:ln xmlns:a="http://schemas.openxmlformats.org/drawingml/2006/main" w="21908">
            <a:solidFill>
              <a:srgbClr val="132238"/>
            </a:solidFill>
          </a:ln>
        </p:spPr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0A9CB3-F41F-4C5D-9198-229A1D9EA46F}"/>
              </a:ext>
            </a:extLst>
          </p:cNvPr>
          <p:cNvCxnSpPr/>
          <p:nvPr/>
        </p:nvCxnSpPr>
        <p:spPr>
          <a:xfrm xmlns:a="http://schemas.openxmlformats.org/drawingml/2006/main">
            <a:off x="10363200" y="2066925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132238"/>
            </a:solidFill>
            <a:tailEnd type="triangle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C76D0C-2699-4B21-948A-9AA87989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Обычный чат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ADFB8C-E9EB-4F8A-8351-42849FD4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5149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Пунктир: персональный cloud recovery не подтверждён</a:t>
            </a:r>
          </a:p>
        </p:txBody>
      </p:sp>
    </p:spTree>
    <p:extLst>
      <p:ext uri="{BB962C8B-B14F-4D97-AF65-F5344CB8AC3E}">
        <p14:creationId xmlns:p14="http://schemas.microsoft.com/office/powerpoint/2010/main" val="12079832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DD48D-F0FD-42B4-AF9D-031E4A90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B5441-69A4-47C5-99D5-1D6DD316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62DA2-7442-4588-8114-4EFCF8EE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MCP и Function Calling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79248-5EE1-4233-B2AA-D22F166A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Модель выбирает инструмент. Сервер проверяет доступ, входные данные и согласие.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D9E44-8E21-4573-ACFD-CB57B75E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BCB81-BDB5-44CD-B287-5EE1E6DA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A2F96F-CDC2-49A6-B23C-8B9743BD1CC5}"/>
              </a:ext>
            </a:extLst>
          </p:cNvPr>
          <p:cNvGraphicFramePr/>
          <p:nvPr/>
        </p:nvGraphicFramePr>
        <p:xfrm>
          <a:off xmlns:a="http://schemas.openxmlformats.org/drawingml/2006/main" x="609600" y="2857500"/>
          <a:ext xmlns:a="http://schemas.openxmlformats.org/drawingml/2006/main" cx="10972800" cy="2628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6210300"/>
              </a:tblGrid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Механизм и инструмент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T w="9525">
                      <a:solidFill>
                        <a:srgbClr val="CED7DC"/>
                      </a:solidFill>
                      <a:prstDash val="solid"/>
                    </a:lnT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132238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Роль в recovery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T w="9525">
                      <a:solidFill>
                        <a:srgbClr val="CED7DC"/>
                      </a:solidFill>
                      <a:prstDash val="solid"/>
                    </a:lnT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132238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read_assignments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Прочитать задания и сохранить снимок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read_calendar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Прочитать занятые интервалы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Function Calling  solve_repair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Рассчитать предложение плана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apply_plan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Применить согласованную версию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438150"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MCP  verify_plan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ED7DC"/>
                      </a:solidFill>
                      <a:prstDash val="solid"/>
                    </a:lnL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wrap="none" lIns="123825" tIns="66675" rIns="12382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3223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Перечитать результат и проверить запись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ED7DC"/>
                      </a:solidFill>
                      <a:prstDash val="solid"/>
                    </a:lnR>
                    <a:lnB w="9525">
                      <a:solidFill>
                        <a:srgbClr val="CED7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11CCC-5CAC-4B3A-8034-FC0C320E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Изменение источников отменяет старое согласие. Неясный результат записи не вызывает автоматический повтор.</a:t>
            </a:r>
          </a:p>
        </p:txBody>
      </p:sp>
    </p:spTree>
    <p:extLst>
      <p:ext uri="{BB962C8B-B14F-4D97-AF65-F5344CB8AC3E}">
        <p14:creationId xmlns:p14="http://schemas.microsoft.com/office/powerpoint/2010/main" val="15541361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803D7-0BE8-4553-B412-9DFEDBF9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A3C77F-DCEE-4317-9233-6B0EFB1B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AC1B0F-A4B9-45DE-BE5D-60C71E17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Agent Engine и облачный статус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A9266-3B91-4F48-AB49-C31D5FC6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Облачный статус по checkpoint от 20 октября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4A2DA-AA89-4BDB-B1C9-DC249CD0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A2D3D-9273-4A2D-9710-811AD058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5B9A8-3C94-4F50-8B36-509657D2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7F8C"/>
                </a:solidFill>
                <a:latin typeface="Helvetica Neue"/>
                <a:ea typeface="Helvetica Neue"/>
                <a:cs typeface="Helvetica Neue"/>
              </a:rPr>
              <a:t>Зафиксировано в отчёте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51643-9A80-4256-BCC9-FC9F40DE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533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Cloud Run, Agent Engine и MCP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Приватная операция async_query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Проверки инфраструктуры и авторизации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044BC-F6C2-4AA1-BAFB-26202F5C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До персонального recovery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08734-DD40-44AB-9513-7D7FAFD2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49149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Общие версии кода и настроек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Реальные привязки двух пользователей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Отдельные разрешённые Calendars</a:t>
            </a:r>
          </a:p>
          <a:p xmlns:a="http://schemas.openxmlformats.org/drawingml/2006/main">
            <a:pPr algn="l">
              <a:def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Полный live-цикл apply и verify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FD25F-D97A-4A3D-BCBB-C456F9F5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A66A12"/>
                </a:solidFill>
                <a:latin typeface="Helvetica Neue"/>
                <a:ea typeface="Helvetica Neue"/>
                <a:cs typeface="Helvetica Neue"/>
              </a:rPr>
              <a:t>Доступность ресурсов и пользовательский сценарий проверяются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6636879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AACEC6-2815-4270-A102-BC0ACE80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CampusPulse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BBDD2-9118-42D2-88B5-CFE3CD6A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C863E-DF5D-4B54-8BDA-884D4B20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Локальные результаты и границы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41E3F-694E-402D-A79A-02E80787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Свежий локальный прогон 21 октября 2026, изолированное окружение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6F5AE-4415-49A8-B753-6D9470E7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7D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45FC8-586C-4BAD-A8EF-DD8DB651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Защита проекта, 22 октября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0A86A-91A8-413F-A2D7-4BCC3D4F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2256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67763A-F250-496E-ABDD-5936C04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pytest-тестов прошли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DCD60B-3299-49EE-A318-DD6844B2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347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57736-9FF0-44C6-91F3-C3272136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62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offline recovery-проверок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01C1D-AF67-4778-A46A-6C04FB8B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4056BD"/>
                </a:solidFill>
                <a:latin typeface="Helvetica Neue"/>
                <a:ea typeface="Helvetica Neue"/>
                <a:cs typeface="Helvetica Neue"/>
              </a:rPr>
              <a:t>53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2044D-C418-4531-A23F-C3C26F51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62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voice loopback-проверки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C8207E-F08D-41AD-BF6F-305B37D7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26 пропусков: 12 Firestore Emulator, 14 PowerShell. Внешние сервисы синтетические.</a:t>
            </a:r>
          </a:p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В браузере пройден локальный цикл до verify и повторной загрузки.</a:t>
            </a:r>
          </a:p>
          <a:p xmlns:a="http://schemas.openxmlformats.org/drawingml/2006/main">
            <a:pPr algn="l">
              <a:def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6778"/>
                </a:solidFill>
                <a:latin typeface="Helvetica Neue"/>
                <a:ea typeface="Helvetica Neue"/>
                <a:cs typeface="Helvetica Neue"/>
              </a:rPr>
              <a:t>Качество Gemini и персональный cloud apply/verify эти проверки не подтверждают.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3117F-2312-4A8E-8F8E-012EED53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53075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32238"/>
                </a:solidFill>
                <a:latin typeface="Helvetica Neue"/>
                <a:ea typeface="Helvetica Neue"/>
                <a:cs typeface="Helvetica Neue"/>
              </a:rPr>
              <a:t>Следующий критерий: два реальных пользователя проходят весь облачный цикл с согласованием, записью и независимой проверкой.</a:t>
            </a:r>
          </a:p>
        </p:txBody>
      </p:sp>
    </p:spTree>
    <p:extLst>
      <p:ext uri="{BB962C8B-B14F-4D97-AF65-F5344CB8AC3E}">
        <p14:creationId xmlns:p14="http://schemas.microsoft.com/office/powerpoint/2010/main" val="1265632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2026-10-21T18:56:21.6960000Z</dcterms:created>
  <dcterms:modified xsi:type="dcterms:W3CDTF">2026-10-21T18:56:21.6960000Z</dcterms:modified>
</coreProperties>
</file>